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9" r:id="rId3"/>
    <p:sldId id="282" r:id="rId4"/>
    <p:sldId id="281" r:id="rId5"/>
    <p:sldId id="270" r:id="rId6"/>
    <p:sldId id="271" r:id="rId7"/>
    <p:sldId id="274" r:id="rId8"/>
    <p:sldId id="283" r:id="rId9"/>
    <p:sldId id="280" r:id="rId10"/>
    <p:sldId id="275" r:id="rId11"/>
    <p:sldId id="27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9782B-F303-416D-944A-D7135A6C72CB}" v="38" dt="2025-12-08T14:11:15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5BE67-6BF9-4071-98BC-B8ACB767E75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CA5-C97B-4104-B28C-3D02840C0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6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CA5-C97B-4104-B28C-3D02840C067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679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CA5-C97B-4104-B28C-3D02840C067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478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CA5-C97B-4104-B28C-3D02840C067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0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5930-293F-C478-0F59-D80FB653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80AB0-8682-4CAA-3415-6A4DBA486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88F4-5C5B-86FE-E8DD-7C8C6866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34AB-D596-55A2-1C4F-099C8D17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EF77-207F-311B-EF3A-E691EEF6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0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2891-D56E-1B1B-52C4-28B325A1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39D9-A8DF-591A-ABFB-BB0B2A46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040F-F04D-5616-072D-84ADD235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E7F0-E318-0248-91C5-2ECDA725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AF52-5641-88ED-BC25-AA87F66F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8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3D0C-F731-26FC-56DE-B8035E09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D02B6-F514-AB4D-9C00-FFCAB7CA2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8ADF0-97F2-3C37-9DF8-2F81B03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8FCC-AC68-A045-7052-40F17F92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BD1DC-D79C-9F34-DA90-359F8148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7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730D-6473-5EDC-BFE9-F79D77E3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8FA3-5B31-729B-FBA4-7EAE5E75D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7A9D9-AA3D-F162-085E-D62BDAFC2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A7FB2-BA38-7FDB-D3DE-03DFCFC1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BAD9D-F44C-4D36-2493-90F6D630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61D-A189-472B-D507-4600A329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7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7A3C-E164-F655-BE00-36DF58F7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9356-F8A2-A72A-11EF-00A12FF6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56F2-DF5D-0E36-623B-0F16A47A5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34A0-2764-3FDC-AAA8-0E1FDCF03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1FE3D-CCC0-8677-91AF-6211421B0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5FA07-C0AF-EF77-A903-46877E83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83595-FA41-D15B-C79A-7E51952E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FBF08-E442-38CD-56F8-0EF7A53D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5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F3F6-3354-17F5-2B80-4A8D4214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E659B-C0FA-0039-5E49-43C6D42F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2CC3-B0DA-6C60-E4CA-26798A09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B9BB6-33DE-4C1B-F2A1-73B553FD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A7F59-754C-81A7-18A6-6DADDFC7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B74E3-F64F-1F74-B121-FA5A2D2A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D41F4-8C98-58DA-1B30-6848B6A5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4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455F-2D2C-2258-D973-81F43400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A4FF-312F-A655-E389-24532CA5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B6639-8689-1BF2-C9DA-7C8E2545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53E4-ACDB-AC40-F36C-A44B6A2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CB58F-C40C-92FE-7A16-D3CDF92F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24E84-62C1-8898-712D-2FFE7F9D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ED48-C768-4C92-CFD9-46B6F7F6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0BAB8-B529-F739-1D4A-99829FAD0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19DB-EEE8-72BE-5689-C6CC0E1D8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5C87D-6C4B-99F4-60A3-F794B9D9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D3798-52E8-1EBF-C4F7-DF99C9A9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13D85-9822-256E-4B0B-D2080E3E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2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EF3F-CB6F-1CD9-947F-7A7B50BD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97EAD-949C-EC38-F73E-7FD09C6C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3B49-9A25-8EC0-E045-93DCE73E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B5B9-EF2B-DD37-1143-5243CBC2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39C0-506F-76CA-0AF0-1B6D33D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18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FA8ED-A59B-678A-4F67-67E19015B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BA3B3-647B-3D8B-8609-84C700A2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1341-F9CE-80A0-A1D3-2CCAFDA7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46E71-9F35-830B-F82C-34B9316A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FAAE-6F73-61C5-2C2C-255A2BA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61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1E2A6-D41B-4E90-7B6B-7F58DC6E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C69D-4CAC-8944-B28B-DF630386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FA49-1D24-7B40-4AB9-F2D66ED8B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4BB1-501B-4BD4-BA11-B56D07D79D68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D07D8-B64E-8712-9BFA-BE38FE931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73F2-C28F-C14E-5BA4-8475696B9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63D55-1E1F-42B3-9539-F98231BC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nets.com/blog/table-extraction-using-llms-unlocking-structured-data-from-documents/" TargetMode="External"/><Relationship Id="rId2" Type="http://schemas.openxmlformats.org/officeDocument/2006/relationships/hyperlink" Target="https://www.sciencedirect.com/science/article/pii/S266730532400034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nstract.com/blog/best-pdf-ocr-software/?utm_source=chatgpt.com" TargetMode="External"/><Relationship Id="rId4" Type="http://schemas.openxmlformats.org/officeDocument/2006/relationships/hyperlink" Target="https://www.sciencedirect.com/science/article/abs/pii/S0925231224009251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77D0B-9242-14C6-D01B-F3D250752F6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66" y="113238"/>
            <a:ext cx="2432705" cy="1173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DEC7F-16CA-A0EA-D35F-C7E77AC08E8B}"/>
              </a:ext>
            </a:extLst>
          </p:cNvPr>
          <p:cNvSpPr txBox="1"/>
          <p:nvPr/>
        </p:nvSpPr>
        <p:spPr>
          <a:xfrm>
            <a:off x="1727249" y="1573103"/>
            <a:ext cx="873750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800" b="1">
                <a:solidFill>
                  <a:srgbClr val="7030A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Image to Spreadsheet Web Application Using OCR</a:t>
            </a:r>
            <a:endParaRPr lang="en-IN" sz="28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F4AB5-9689-D1E0-D8CD-F2E51C6DC5BE}"/>
              </a:ext>
            </a:extLst>
          </p:cNvPr>
          <p:cNvSpPr txBox="1"/>
          <p:nvPr/>
        </p:nvSpPr>
        <p:spPr>
          <a:xfrm>
            <a:off x="1727249" y="3429000"/>
            <a:ext cx="4107863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T. Sai Manoj -              22WU0104120</a:t>
            </a:r>
            <a:endParaRPr lang="en-IN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M. Dheeraj -                 22WU0104067</a:t>
            </a:r>
            <a:endParaRPr lang="en-IN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L. Sujith Reddy -          22WU0105035</a:t>
            </a:r>
            <a:endParaRPr lang="en-IN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E751C-3BDE-45E6-B7C9-1E4D90BCBF3E}"/>
              </a:ext>
            </a:extLst>
          </p:cNvPr>
          <p:cNvSpPr txBox="1"/>
          <p:nvPr/>
        </p:nvSpPr>
        <p:spPr>
          <a:xfrm>
            <a:off x="8081787" y="3429000"/>
            <a:ext cx="2737031" cy="16312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/>
              <a:t>Supervised by:- </a:t>
            </a:r>
          </a:p>
          <a:p>
            <a:endParaRPr lang="en-IN"/>
          </a:p>
          <a:p>
            <a:r>
              <a:rPr lang="en-IN" err="1"/>
              <a:t>Dr.</a:t>
            </a:r>
            <a:r>
              <a:rPr lang="en-IN"/>
              <a:t> Resham Raj </a:t>
            </a:r>
            <a:r>
              <a:rPr lang="en-IN" err="1"/>
              <a:t>Shivwanshi</a:t>
            </a:r>
            <a:r>
              <a:rPr lang="en-IN"/>
              <a:t>,</a:t>
            </a:r>
          </a:p>
          <a:p>
            <a:endParaRPr lang="en-IN" sz="800"/>
          </a:p>
          <a:p>
            <a:r>
              <a:rPr lang="en-IN"/>
              <a:t>Assistant  Professor</a:t>
            </a:r>
            <a:br>
              <a:rPr lang="en-IN" sz="2000"/>
            </a:b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98248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7315-BFDD-56CE-F18E-D0A69A6D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365125"/>
            <a:ext cx="10889226" cy="1325563"/>
          </a:xfrm>
        </p:spPr>
        <p:txBody>
          <a:bodyPr>
            <a:normAutofit/>
          </a:bodyPr>
          <a:lstStyle/>
          <a:p>
            <a:r>
              <a:rPr lang="en-IN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6D88-9839-90BF-9402-ADD2045C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621862"/>
            <a:ext cx="10515600" cy="3802545"/>
          </a:xfrm>
        </p:spPr>
        <p:txBody>
          <a:bodyPr>
            <a:normAutofit/>
          </a:bodyPr>
          <a:lstStyle/>
          <a:p>
            <a:pPr algn="just"/>
            <a:r>
              <a:rPr lang="en-US" sz="2000"/>
              <a:t>Many organizations still store important table data in printed documents or scanned images, requiring slow and error-prone manual entry into spreadsheets.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Handling large volumes of tables from invoices, attendance sheets, and records makes the problem even more time-consuming.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Our project automates this process by converting table images into clean, editable spreadsheet data using computer vision and OCR.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Through a simple web interface, users can upload an image and instantly receive an accurate table that can be reviewed and exported.</a:t>
            </a:r>
          </a:p>
          <a:p>
            <a:pPr marL="0" indent="0" fontAlgn="base">
              <a:buNone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74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7315-BFDD-56CE-F18E-D0A69A6D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365125"/>
            <a:ext cx="10889226" cy="1325563"/>
          </a:xfrm>
        </p:spPr>
        <p:txBody>
          <a:bodyPr>
            <a:normAutofit fontScale="90000"/>
          </a:bodyPr>
          <a:lstStyle/>
          <a:p>
            <a:b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6D88-9839-90BF-9402-ADD2045C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621862"/>
            <a:ext cx="10515600" cy="3872287"/>
          </a:xfrm>
        </p:spPr>
        <p:txBody>
          <a:bodyPr>
            <a:normAutofit/>
          </a:bodyPr>
          <a:lstStyle/>
          <a:p>
            <a:pPr algn="just"/>
            <a:r>
              <a:rPr lang="en-US" sz="2000"/>
              <a:t>Manual Data Entry Bottleneck: Organizations still re-enter table data from printed forms, PDFs, and photos, leading to high time consumption and frequent human errors.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Low OCR Accuracy: Existing tools struggle with poor image quality, skewed/handwritten tables, and inconsistent layouts, resulting in inaccurate extractions that need heavy manual correction.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High Cost &amp; Limited Options: Commercial table-extraction solutions are expensive, closed-source, and offer limited customization, making them inaccessible for many organizations.</a:t>
            </a:r>
          </a:p>
          <a:p>
            <a:pPr algn="just"/>
            <a:endParaRPr lang="en-US" sz="1600"/>
          </a:p>
          <a:p>
            <a:pPr algn="just"/>
            <a:r>
              <a:rPr lang="en-US" sz="2000"/>
              <a:t>Inefficient Processing: Current workflows involve repeated review and validation steps, delaying data availability and increasing operational costs significantly.</a:t>
            </a:r>
          </a:p>
          <a:p>
            <a:pPr marL="0" indent="0" fontAlgn="base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64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5336-5A63-EC20-B5FB-295DEFB2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51" y="365125"/>
            <a:ext cx="10904349" cy="1325563"/>
          </a:xfrm>
        </p:spPr>
        <p:txBody>
          <a:bodyPr>
            <a:normAutofit/>
          </a:bodyPr>
          <a:lstStyle/>
          <a:p>
            <a: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844562"/>
              </p:ext>
            </p:extLst>
          </p:nvPr>
        </p:nvGraphicFramePr>
        <p:xfrm>
          <a:off x="531843" y="1690688"/>
          <a:ext cx="10991460" cy="462798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198292">
                  <a:extLst>
                    <a:ext uri="{9D8B030D-6E8A-4147-A177-3AD203B41FA5}">
                      <a16:colId xmlns:a16="http://schemas.microsoft.com/office/drawing/2014/main" val="267375714"/>
                    </a:ext>
                  </a:extLst>
                </a:gridCol>
                <a:gridCol w="2198292">
                  <a:extLst>
                    <a:ext uri="{9D8B030D-6E8A-4147-A177-3AD203B41FA5}">
                      <a16:colId xmlns:a16="http://schemas.microsoft.com/office/drawing/2014/main" val="3825640495"/>
                    </a:ext>
                  </a:extLst>
                </a:gridCol>
                <a:gridCol w="2198292">
                  <a:extLst>
                    <a:ext uri="{9D8B030D-6E8A-4147-A177-3AD203B41FA5}">
                      <a16:colId xmlns:a16="http://schemas.microsoft.com/office/drawing/2014/main" val="224498370"/>
                    </a:ext>
                  </a:extLst>
                </a:gridCol>
                <a:gridCol w="2198292">
                  <a:extLst>
                    <a:ext uri="{9D8B030D-6E8A-4147-A177-3AD203B41FA5}">
                      <a16:colId xmlns:a16="http://schemas.microsoft.com/office/drawing/2014/main" val="3676472032"/>
                    </a:ext>
                  </a:extLst>
                </a:gridCol>
                <a:gridCol w="2198292">
                  <a:extLst>
                    <a:ext uri="{9D8B030D-6E8A-4147-A177-3AD203B41FA5}">
                      <a16:colId xmlns:a16="http://schemas.microsoft.com/office/drawing/2014/main" val="3341727536"/>
                    </a:ext>
                  </a:extLst>
                </a:gridCol>
              </a:tblGrid>
              <a:tr h="4206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Existing Solution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Key Features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Strengths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Limitations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Gap Our Project Addresses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73684469"/>
                  </a:ext>
                </a:extLst>
              </a:tr>
              <a:tr h="925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Commercial Tools (AWS Textract, Google Vision)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Cloud-based OCR, table detection, multi-language support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High accuracy (90%+), handles complex layouts, well-maintained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Expensive, proprietary, limited customization, privacy concerns with cloud upload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Open-source alternative, cost-effective, customizable for specific use cases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22397664"/>
                  </a:ext>
                </a:extLst>
              </a:tr>
              <a:tr h="11780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Open-Source Libraries (img2table, Camelot)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Python-based, CLI interface, table extraction from PDFs/images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Free, transparent code, community support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CLI-based (not user-friendly), lower accuracy (70-75%), limited UI, no web interface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Interactive web application, improved accuracy (85%+), user-friendly interface, editable grid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49045014"/>
                  </a:ext>
                </a:extLst>
              </a:tr>
              <a:tr h="925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Classical Computer Vision (OpenCV + Hough Lines)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Line detection, morphological operations, manual tuning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Fast processing (&lt;1 sec), no deep learning dependency, interpretable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Fails on poor image quality, handwritten tables, skewed images, low accuracy (60-70%)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Comparison with deep learning models, robust preprocessing pipeline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67234165"/>
                  </a:ext>
                </a:extLst>
              </a:tr>
              <a:tr h="11780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Deep Learning Models (TableNet, DETR)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CNN-based &amp; transformer-based table detection, end-to-end learning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High accuracy (85%+), handles varied table structures, learns from data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Requires large annotated datasets, computationally expensive, black-box nature, long training time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Hybrid approach combining classical + DL, systematic model comparison, transparent evaluation metrics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26519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12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572733"/>
            <a:ext cx="10515600" cy="984848"/>
          </a:xfrm>
        </p:spPr>
        <p:txBody>
          <a:bodyPr>
            <a:normAutofit/>
          </a:bodyPr>
          <a:lstStyle/>
          <a:p>
            <a: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570456"/>
            <a:ext cx="11001935" cy="44473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/>
              <a:t>Build an end-to-end web application that converts table images into clean, editable spreadsheet data with high accuracy.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/>
              <a:t>Develop a robust preprocessing and table-detection pipeline to handle different table structures and image qualities.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/>
              <a:t>Implement reliable cell segmentation and OCR with confidence scoring to highlight and correct low-confidence cells.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/>
              <a:t>Create a user-friendly web interface with an editable grid and export options (CSV, Excel, JSON) for seamless workflow integration.</a:t>
            </a:r>
          </a:p>
          <a:p>
            <a:pPr algn="just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</a:p>
          <a:p>
            <a:pPr algn="just"/>
            <a:endParaRPr lang="en-US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/>
              <a:t>All objectives are currently in the planning and design phase. Technical specifications and architecture are finalized, and implementation will begin next week.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93333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4" y="409347"/>
            <a:ext cx="8101781" cy="1003553"/>
          </a:xfrm>
        </p:spPr>
        <p:txBody>
          <a:bodyPr>
            <a:normAutofit/>
          </a:bodyPr>
          <a:lstStyle/>
          <a:p>
            <a:r>
              <a:rPr lang="en-US" sz="4000" b="1" u="sng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Novelty </a:t>
            </a:r>
            <a:endParaRPr lang="en-IN" sz="4000" b="1" u="sng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6BB2F-D9C4-4655-B984-BAA5E85108A8}"/>
              </a:ext>
            </a:extLst>
          </p:cNvPr>
          <p:cNvSpPr txBox="1"/>
          <p:nvPr/>
        </p:nvSpPr>
        <p:spPr>
          <a:xfrm>
            <a:off x="629264" y="1544622"/>
            <a:ext cx="109334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Hybrid Detection Approach:</a:t>
            </a:r>
            <a:r>
              <a:rPr lang="en-US" sz="2000"/>
              <a:t> Combines classical Hough-line methods with deep-learning models to accurately detect both simple and complex tables.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User-Friendly Web Application:</a:t>
            </a:r>
            <a:r>
              <a:rPr lang="en-US" sz="2000"/>
              <a:t> Offers an interactive, editable web interface with easy export options for corrected table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Transparent &amp; Customizable Pipeline:</a:t>
            </a:r>
            <a:r>
              <a:rPr lang="en-US" sz="2000"/>
              <a:t> Provides a fully open-source, configurable workflow that can be adapted to different table types and domains.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Real World Validation:</a:t>
            </a:r>
            <a:r>
              <a:rPr lang="en-US" sz="2000"/>
              <a:t> Ensures robustness through testing on 200+ diverse table images with confidence scoring for low-quality cells.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End-to-End Production-Ready System:</a:t>
            </a:r>
            <a:r>
              <a:rPr lang="en-US" sz="2000"/>
              <a:t> Delivers fast image-to-spreadsheet conversion (&lt;5 seconds) for printed and handwritten tables without requiring AI expertise.</a:t>
            </a:r>
          </a:p>
        </p:txBody>
      </p:sp>
    </p:spTree>
    <p:extLst>
      <p:ext uri="{BB962C8B-B14F-4D97-AF65-F5344CB8AC3E}">
        <p14:creationId xmlns:p14="http://schemas.microsoft.com/office/powerpoint/2010/main" val="220404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28" y="292530"/>
            <a:ext cx="10515600" cy="1003553"/>
          </a:xfrm>
        </p:spPr>
        <p:txBody>
          <a:bodyPr>
            <a:normAutofit/>
          </a:bodyPr>
          <a:lstStyle/>
          <a:p>
            <a: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296083"/>
            <a:ext cx="11001935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Image Upload</a:t>
            </a:r>
            <a:r>
              <a:rPr lang="en-IN" sz="2000"/>
              <a:t> – User uploads table image (JPG/PNG).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err="1"/>
              <a:t>Preprocessing</a:t>
            </a:r>
            <a:r>
              <a:rPr lang="en-IN" sz="2000"/>
              <a:t> – Grayscale, </a:t>
            </a:r>
            <a:r>
              <a:rPr lang="en-IN" sz="2000" err="1"/>
              <a:t>denoise</a:t>
            </a:r>
            <a:r>
              <a:rPr lang="en-IN" sz="2000"/>
              <a:t>, enhance contrast, </a:t>
            </a:r>
            <a:r>
              <a:rPr lang="en-IN" sz="2000" err="1"/>
              <a:t>binarize</a:t>
            </a:r>
            <a:r>
              <a:rPr lang="en-IN" sz="2000"/>
              <a:t>, </a:t>
            </a:r>
            <a:r>
              <a:rPr lang="en-IN" sz="2000" err="1"/>
              <a:t>deskew</a:t>
            </a:r>
            <a:r>
              <a:rPr lang="en-IN" sz="200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Table Detection</a:t>
            </a:r>
            <a:r>
              <a:rPr lang="en-IN" sz="2000"/>
              <a:t> – Detect boundaries, rows, columns using Hough Lines / </a:t>
            </a:r>
            <a:r>
              <a:rPr lang="en-IN" sz="2000" err="1"/>
              <a:t>TableNet</a:t>
            </a:r>
            <a:r>
              <a:rPr lang="en-IN" sz="2000"/>
              <a:t> / DETR.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Cell Segmentation</a:t>
            </a:r>
            <a:r>
              <a:rPr lang="en-IN" sz="2000"/>
              <a:t> – Split table into individual cells and map row–column positions.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Text Extraction</a:t>
            </a:r>
            <a:r>
              <a:rPr lang="en-IN" sz="2000"/>
              <a:t> – Tesseract reads text, assigns confidence, flags low-confidence cells.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Web UI &amp; Export</a:t>
            </a:r>
            <a:r>
              <a:rPr lang="en-IN" sz="2000"/>
              <a:t> – Editable table shown in browser; export as CSV/Excel/JSON.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/>
              <a:t>Final Output</a:t>
            </a:r>
            <a:r>
              <a:rPr lang="en-IN" sz="2000"/>
              <a:t> – User receives clean, editable spreadsheet.</a:t>
            </a:r>
          </a:p>
        </p:txBody>
      </p:sp>
    </p:spTree>
    <p:extLst>
      <p:ext uri="{BB962C8B-B14F-4D97-AF65-F5344CB8AC3E}">
        <p14:creationId xmlns:p14="http://schemas.microsoft.com/office/powerpoint/2010/main" val="166641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292530"/>
            <a:ext cx="10515600" cy="1003553"/>
          </a:xfrm>
        </p:spPr>
        <p:txBody>
          <a:bodyPr>
            <a:normAutofit/>
          </a:bodyPr>
          <a:lstStyle/>
          <a:p>
            <a:r>
              <a:rPr lang="en-US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296083"/>
            <a:ext cx="1100193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Programming Language:</a:t>
            </a:r>
            <a:r>
              <a:rPr lang="en-IN"/>
              <a:t> Python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Libraries:</a:t>
            </a:r>
            <a:r>
              <a:rPr lang="en-IN"/>
              <a:t> </a:t>
            </a:r>
            <a:r>
              <a:rPr lang="en-IN" err="1"/>
              <a:t>OpenCV</a:t>
            </a:r>
            <a:r>
              <a:rPr lang="en-IN"/>
              <a:t> 4.8+, </a:t>
            </a:r>
            <a:r>
              <a:rPr lang="en-IN" err="1"/>
              <a:t>NumPy</a:t>
            </a:r>
            <a:r>
              <a:rPr lang="en-IN"/>
              <a:t>, Pandas, Pillow, </a:t>
            </a:r>
            <a:r>
              <a:rPr lang="en-IN" err="1"/>
              <a:t>PyTorch</a:t>
            </a:r>
            <a:r>
              <a:rPr lang="en-IN"/>
              <a:t>, Tesseract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Web Application Framework:</a:t>
            </a:r>
            <a:r>
              <a:rPr lang="en-IN"/>
              <a:t> </a:t>
            </a:r>
            <a:r>
              <a:rPr lang="en-IN" err="1"/>
              <a:t>Streamlit</a:t>
            </a:r>
            <a:r>
              <a:rPr lang="en-IN"/>
              <a:t> (frontend) / Flask (backend alternative)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Algorithms &amp; Techniques:</a:t>
            </a:r>
            <a:r>
              <a:rPr lang="en-IN"/>
              <a:t> Laplacian Variance, CLAHE, Otsu </a:t>
            </a:r>
            <a:r>
              <a:rPr lang="en-IN" err="1"/>
              <a:t>Thresholding</a:t>
            </a:r>
            <a:r>
              <a:rPr lang="en-IN"/>
              <a:t>, Gaussian Filtering, Hough Transform, CNN-based Detection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OCR Engine:</a:t>
            </a:r>
            <a:r>
              <a:rPr lang="en-IN"/>
              <a:t> Tesseract , </a:t>
            </a:r>
            <a:r>
              <a:rPr lang="en-IN" err="1"/>
              <a:t>EasyOCR</a:t>
            </a: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Frontend Tools:</a:t>
            </a:r>
            <a:r>
              <a:rPr lang="en-IN"/>
              <a:t> HTML5, CSS3, JavaScript, </a:t>
            </a:r>
            <a:r>
              <a:rPr lang="en-IN" err="1"/>
              <a:t>Handsontable</a:t>
            </a:r>
            <a:r>
              <a:rPr lang="en-IN"/>
              <a:t> (editable grid)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/>
              <a:t>Backend &amp; Deployment:</a:t>
            </a:r>
            <a:r>
              <a:rPr lang="en-IN"/>
              <a:t> </a:t>
            </a:r>
            <a:r>
              <a:rPr lang="en-IN" err="1"/>
              <a:t>Gunicorn</a:t>
            </a:r>
            <a:r>
              <a:rPr lang="en-IN"/>
              <a:t>, Git/GitHub</a:t>
            </a:r>
          </a:p>
        </p:txBody>
      </p:sp>
    </p:spTree>
    <p:extLst>
      <p:ext uri="{BB962C8B-B14F-4D97-AF65-F5344CB8AC3E}">
        <p14:creationId xmlns:p14="http://schemas.microsoft.com/office/powerpoint/2010/main" val="127899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A16F-DC17-99F7-7505-808C6F66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349918"/>
            <a:ext cx="10515600" cy="1223244"/>
          </a:xfrm>
        </p:spPr>
        <p:txBody>
          <a:bodyPr>
            <a:normAutofit fontScale="90000"/>
          </a:bodyPr>
          <a:lstStyle/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0CB3-DCAA-776F-1DF4-20D8738F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897" y="1253330"/>
            <a:ext cx="10515600" cy="5511263"/>
          </a:xfrm>
        </p:spPr>
        <p:txBody>
          <a:bodyPr>
            <a:normAutofit/>
          </a:bodyPr>
          <a:lstStyle/>
          <a:p>
            <a:pPr algn="just"/>
            <a:r>
              <a:rPr lang="en-IN" sz="2000"/>
              <a:t>Core Pipeline Development: Implement the end‑to‑end image processing pipeline, including preprocessing (denoising, contrast enhancement, binarization, </a:t>
            </a:r>
            <a:r>
              <a:rPr lang="en-IN" sz="2000" err="1"/>
              <a:t>deskewing</a:t>
            </a:r>
            <a:r>
              <a:rPr lang="en-IN" sz="2000"/>
              <a:t>), classical Hough line–based table detection, and cell extraction with structured coordinate mapping.</a:t>
            </a:r>
          </a:p>
          <a:p>
            <a:pPr algn="just"/>
            <a:endParaRPr lang="en-US" sz="800"/>
          </a:p>
          <a:p>
            <a:pPr algn="just"/>
            <a:r>
              <a:rPr lang="en-IN" sz="2000"/>
              <a:t>OCR Integration &amp; Accuracy Tuning</a:t>
            </a:r>
          </a:p>
          <a:p>
            <a:pPr algn="just"/>
            <a:endParaRPr lang="en-IN" sz="800"/>
          </a:p>
          <a:p>
            <a:pPr algn="just"/>
            <a:r>
              <a:rPr lang="en-IN" sz="2000"/>
              <a:t>Web Application Development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5705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236750"/>
            <a:ext cx="10515600" cy="1003553"/>
          </a:xfrm>
        </p:spPr>
        <p:txBody>
          <a:bodyPr>
            <a:normAutofit/>
          </a:bodyPr>
          <a:lstStyle/>
          <a:p>
            <a:r>
              <a:rPr lang="en-IN" sz="4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17" y="1468634"/>
            <a:ext cx="9408934" cy="465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C949-ACFF-BF5D-101D-940521C5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32" y="331859"/>
            <a:ext cx="10515600" cy="1003553"/>
          </a:xfrm>
        </p:spPr>
        <p:txBody>
          <a:bodyPr>
            <a:normAutofit/>
          </a:bodyPr>
          <a:lstStyle/>
          <a:p>
            <a:r>
              <a:rPr lang="en-IN" sz="4000" b="1" u="sng">
                <a:latin typeface="Times New Roman"/>
                <a:cs typeface="Times New Roman"/>
              </a:rPr>
              <a:t>References:</a:t>
            </a:r>
            <a:r>
              <a:rPr lang="en-IN" sz="4000" b="1" u="sng"/>
              <a:t>-</a:t>
            </a:r>
            <a:r>
              <a:rPr lang="en-IN" sz="4000" b="1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537EE-4AD1-44A5-43CF-608A252FA125}"/>
              </a:ext>
            </a:extLst>
          </p:cNvPr>
          <p:cNvSpPr txBox="1"/>
          <p:nvPr/>
        </p:nvSpPr>
        <p:spPr>
          <a:xfrm>
            <a:off x="595032" y="1335412"/>
            <a:ext cx="1100193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hlinkClick r:id="rId2"/>
              </a:rPr>
              <a:t>Zhang, X., Li, Y., Kumar, A., Chen, H. Document image quality assessment using deep neural networks. Digital Signal Processing 149 (2024)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hlinkClick r:id="rId3"/>
              </a:rPr>
              <a:t>Nanonets. Table Extraction Using LLMs: Unlocking Structured Data from Documents. Nanonets Blog (2024)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hlinkClick r:id="rId4"/>
              </a:rPr>
              <a:t>Pal, S., Pramanik, A., Sarkar, R. MG-</a:t>
            </a:r>
            <a:r>
              <a:rPr lang="en-IN" sz="2000" err="1">
                <a:hlinkClick r:id="rId4"/>
              </a:rPr>
              <a:t>AttentionNet</a:t>
            </a:r>
            <a:r>
              <a:rPr lang="en-IN" sz="2000">
                <a:hlinkClick r:id="rId4"/>
              </a:rPr>
              <a:t>: A novel multi-granularity attention-based deep neural network for image classification. Neurocomputing 564 (2024)</a:t>
            </a:r>
            <a:endParaRPr lang="en-I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err="1">
                <a:hlinkClick r:id="rId5"/>
              </a:rPr>
              <a:t>Unstract</a:t>
            </a:r>
            <a:r>
              <a:rPr lang="en-US" sz="2000">
                <a:hlinkClick r:id="rId5"/>
              </a:rPr>
              <a:t>. Best PDF OCR Software. (2024)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367159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B5485-4D75-0FCB-7972-3761BA68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225" y="1889838"/>
            <a:ext cx="2605549" cy="15391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>
                <a:ea typeface="Calibri" panose="020F0502020204030204"/>
                <a:cs typeface="Calibri" panose="020F0502020204030204"/>
              </a:rPr>
              <a:t>                                                  </a:t>
            </a:r>
            <a:r>
              <a:rPr lang="en-US" sz="4400">
                <a:solidFill>
                  <a:srgbClr val="7030A0"/>
                </a:solidFill>
                <a:ea typeface="Calibri" panose="020F0502020204030204"/>
                <a:cs typeface="Calibri" panose="020F0502020204030204"/>
              </a:rPr>
              <a:t> </a:t>
            </a:r>
            <a:endParaRPr lang="en-US" sz="4400" b="1">
              <a:solidFill>
                <a:srgbClr val="7030A0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4400" b="1">
                <a:solidFill>
                  <a:srgbClr val="7030A0"/>
                </a:solidFill>
                <a:latin typeface="Times New Roman"/>
                <a:ea typeface="Calibri" panose="020F0502020204030204"/>
                <a:cs typeface="Calibri" panose="020F0502020204030204"/>
              </a:rPr>
              <a:t>                            </a:t>
            </a:r>
            <a:r>
              <a:rPr lang="en-US" sz="4000" b="1">
                <a:solidFill>
                  <a:srgbClr val="7030A0"/>
                </a:solidFill>
                <a:latin typeface="Times New Roman"/>
                <a:ea typeface="Calibri" panose="020F0502020204030204"/>
                <a:cs typeface="Calibri" panose="020F0502020204030204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372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Introduction</vt:lpstr>
      <vt:lpstr> Problem Statement </vt:lpstr>
      <vt:lpstr>Literature Review</vt:lpstr>
      <vt:lpstr>Objectives</vt:lpstr>
      <vt:lpstr>Novelty </vt:lpstr>
      <vt:lpstr>Proposed Methodology</vt:lpstr>
      <vt:lpstr>Tools &amp; Technologies</vt:lpstr>
      <vt:lpstr>Future Scope </vt:lpstr>
      <vt:lpstr>Work Plan</vt:lpstr>
      <vt:lpstr>References:-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Bhargav Prajwal Pathri</dc:creator>
  <cp:revision>3</cp:revision>
  <dcterms:created xsi:type="dcterms:W3CDTF">2025-01-17T09:26:04Z</dcterms:created>
  <dcterms:modified xsi:type="dcterms:W3CDTF">2025-12-08T14:55:57Z</dcterms:modified>
</cp:coreProperties>
</file>